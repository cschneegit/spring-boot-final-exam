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77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1" r:id="rId6"/>
    <p:sldId id="278" r:id="rId7"/>
    <p:sldId id="279" r:id="rId8"/>
    <p:sldId id="281" r:id="rId9"/>
    <p:sldId id="280" r:id="rId10"/>
    <p:sldId id="282" r:id="rId11"/>
    <p:sldId id="265" r:id="rId12"/>
    <p:sldId id="262" r:id="rId13"/>
    <p:sldId id="263" r:id="rId14"/>
    <p:sldId id="264" r:id="rId15"/>
    <p:sldId id="266" r:id="rId16"/>
    <p:sldId id="267" r:id="rId17"/>
    <p:sldId id="268" r:id="rId18"/>
    <p:sldId id="270" r:id="rId19"/>
    <p:sldId id="276" r:id="rId20"/>
    <p:sldId id="277" r:id="rId21"/>
    <p:sldId id="275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" id="{7655BFA1-E6B0-473A-A721-A6AD3DD292C1}">
          <p14:sldIdLst>
            <p14:sldId id="256"/>
            <p14:sldId id="257"/>
          </p14:sldIdLst>
        </p14:section>
        <p14:section name="Analyse" id="{A422F884-1B4A-4943-B67C-DDB3D8FFDA56}">
          <p14:sldIdLst>
            <p14:sldId id="258"/>
            <p14:sldId id="259"/>
          </p14:sldIdLst>
        </p14:section>
        <p14:section name="Planung" id="{C2ECFD15-4C08-4A25-A85E-C5CB7D575149}">
          <p14:sldIdLst>
            <p14:sldId id="261"/>
            <p14:sldId id="278"/>
            <p14:sldId id="279"/>
            <p14:sldId id="281"/>
            <p14:sldId id="280"/>
            <p14:sldId id="282"/>
            <p14:sldId id="265"/>
            <p14:sldId id="262"/>
            <p14:sldId id="263"/>
          </p14:sldIdLst>
        </p14:section>
        <p14:section name="Durchführung" id="{935014BA-0C3B-469D-B300-8B4AC3821532}">
          <p14:sldIdLst>
            <p14:sldId id="264"/>
            <p14:sldId id="266"/>
            <p14:sldId id="267"/>
            <p14:sldId id="268"/>
          </p14:sldIdLst>
        </p14:section>
        <p14:section name="Qualitätssicherung" id="{862FE2C7-78ED-4B70-BC46-3D9A19FC3FD2}">
          <p14:sldIdLst>
            <p14:sldId id="270"/>
            <p14:sldId id="276"/>
            <p14:sldId id="277"/>
            <p14:sldId id="275"/>
          </p14:sldIdLst>
        </p14:section>
        <p14:section name="Fazit" id="{10DDEFBA-AC68-4345-9DB0-CDC5A3A08BF5}">
          <p14:sldIdLst>
            <p14:sldId id="272"/>
            <p14:sldId id="273"/>
          </p14:sldIdLst>
        </p14:section>
        <p14:section name="Rausgenommene Folien" id="{AD14109C-47A4-4B7C-AC32-708E05949201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5DA"/>
    <a:srgbClr val="00D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5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42" y="60"/>
      </p:cViewPr>
      <p:guideLst>
        <p:guide orient="horz" pos="2160"/>
        <p:guide pos="3840"/>
        <p:guide orient="horz" pos="22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27D26F-D0EE-4D8C-B9E9-40B288F1D16A}" type="datetimeFigureOut">
              <a:rPr lang="de-DE" smtClean="0"/>
              <a:t>23.01.2024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88B1B-F313-42E6-8BDE-D482D8651C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3298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730878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074117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40652262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077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77740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3336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37106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69672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58848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202B3352-D6B3-4806-8CF4-80D4C531CCAA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3933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202B3352-D6B3-4806-8CF4-80D4C531CCAA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3913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61235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14165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578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89963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86176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61820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49" name="Band nach oben 48"/>
          <p:cNvSpPr/>
          <p:nvPr userDrawn="1"/>
        </p:nvSpPr>
        <p:spPr>
          <a:xfrm>
            <a:off x="33274" y="6129338"/>
            <a:ext cx="1216152" cy="612648"/>
          </a:xfrm>
          <a:prstGeom prst="ribbon2">
            <a:avLst/>
          </a:prstGeom>
          <a:solidFill>
            <a:srgbClr val="00C5DA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24A2085A-CDA0-4323-B4AE-89E62A03F36E}" type="slidenum">
              <a:rPr lang="de-DE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‹Nr.›</a:t>
            </a:fld>
            <a:endParaRPr lang="de-DE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hteck 47"/>
          <p:cNvSpPr/>
          <p:nvPr userDrawn="1"/>
        </p:nvSpPr>
        <p:spPr>
          <a:xfrm>
            <a:off x="8584625" y="5479550"/>
            <a:ext cx="3740728" cy="1483725"/>
          </a:xfrm>
          <a:prstGeom prst="rect">
            <a:avLst/>
          </a:prstGeom>
          <a:blipFill dpi="0" rotWithShape="1">
            <a:blip r:embed="rId20"/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20479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3616181"/>
            <a:ext cx="9144000" cy="172771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de-DE" sz="5400" dirty="0" smtClean="0">
                <a:latin typeface="Aharoni" panose="02010803020104030203" pitchFamily="2" charset="-79"/>
                <a:cs typeface="Aharoni" panose="02010803020104030203" pitchFamily="2" charset="-79"/>
              </a:rPr>
              <a:t>Synchronisation von Rollenzuordnung zwischen Entwicklungs- und Produktivumgebung</a:t>
            </a:r>
            <a:endParaRPr lang="de-DE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6357113"/>
            <a:ext cx="9144000" cy="1655762"/>
          </a:xfrm>
        </p:spPr>
        <p:txBody>
          <a:bodyPr/>
          <a:lstStyle/>
          <a:p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Von Christoph Schneekloth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24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Pfeil nach rechts 6"/>
          <p:cNvSpPr/>
          <p:nvPr/>
        </p:nvSpPr>
        <p:spPr>
          <a:xfrm>
            <a:off x="1441527" y="2702312"/>
            <a:ext cx="1800000" cy="1440000"/>
          </a:xfrm>
          <a:prstGeom prst="rightArrow">
            <a:avLst/>
          </a:prstGeom>
          <a:solidFill>
            <a:schemeClr val="tx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</a:p>
        </p:txBody>
      </p:sp>
      <p:sp>
        <p:nvSpPr>
          <p:cNvPr id="8" name="Pfeil nach rechts 7"/>
          <p:cNvSpPr/>
          <p:nvPr/>
        </p:nvSpPr>
        <p:spPr>
          <a:xfrm>
            <a:off x="3247263" y="2702312"/>
            <a:ext cx="1800000" cy="1440000"/>
          </a:xfrm>
          <a:prstGeom prst="rightArrow">
            <a:avLst/>
          </a:prstGeom>
          <a:solidFill>
            <a:schemeClr val="tx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Planung</a:t>
            </a:r>
          </a:p>
        </p:txBody>
      </p:sp>
      <p:sp>
        <p:nvSpPr>
          <p:cNvPr id="10" name="Pfeil nach rechts 9"/>
          <p:cNvSpPr/>
          <p:nvPr/>
        </p:nvSpPr>
        <p:spPr>
          <a:xfrm>
            <a:off x="5058736" y="2702312"/>
            <a:ext cx="2074527" cy="1440000"/>
          </a:xfrm>
          <a:prstGeom prst="rightArrow">
            <a:avLst/>
          </a:prstGeom>
          <a:solidFill>
            <a:schemeClr val="tx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Durchführung</a:t>
            </a:r>
          </a:p>
        </p:txBody>
      </p:sp>
      <p:sp>
        <p:nvSpPr>
          <p:cNvPr id="11" name="Pfeil nach rechts 10"/>
          <p:cNvSpPr/>
          <p:nvPr/>
        </p:nvSpPr>
        <p:spPr>
          <a:xfrm>
            <a:off x="7133263" y="2702312"/>
            <a:ext cx="1800000" cy="1440000"/>
          </a:xfrm>
          <a:prstGeom prst="rightArrow">
            <a:avLst/>
          </a:prstGeom>
          <a:solidFill>
            <a:schemeClr val="tx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Qualitäts-</a:t>
            </a:r>
          </a:p>
          <a:p>
            <a:pPr algn="ctr"/>
            <a:r>
              <a:rPr 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de-DE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icherung</a:t>
            </a:r>
          </a:p>
        </p:txBody>
      </p:sp>
      <p:sp>
        <p:nvSpPr>
          <p:cNvPr id="12" name="Pfeil nach rechts 11"/>
          <p:cNvSpPr/>
          <p:nvPr/>
        </p:nvSpPr>
        <p:spPr>
          <a:xfrm>
            <a:off x="8933262" y="2702312"/>
            <a:ext cx="1800000" cy="1440000"/>
          </a:xfrm>
          <a:prstGeom prst="rightArrow">
            <a:avLst/>
          </a:prstGeom>
          <a:solidFill>
            <a:schemeClr val="tx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103084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66800" y="-14406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520551" y="989398"/>
            <a:ext cx="4878389" cy="354171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de-DE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Ist-Analyse</a:t>
            </a:r>
          </a:p>
          <a:p>
            <a:pPr marL="0" indent="0">
              <a:buNone/>
            </a:pPr>
            <a:endParaRPr lang="de-DE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807" y="1751509"/>
            <a:ext cx="9864436" cy="382461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970" y="2292478"/>
            <a:ext cx="3117722" cy="1447513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2692" y="2282729"/>
            <a:ext cx="5819877" cy="146649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9067" y="3114633"/>
            <a:ext cx="1185152" cy="191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18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2"/>
          <a:srcRect l="894" t="13011" r="1402" b="2847"/>
          <a:stretch/>
        </p:blipFill>
        <p:spPr>
          <a:xfrm>
            <a:off x="1015444" y="1552575"/>
            <a:ext cx="10176432" cy="38113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012" y="2350519"/>
            <a:ext cx="5250190" cy="274905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1412" y="-236505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390794" y="871949"/>
            <a:ext cx="9905999" cy="354171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de-DE" dirty="0" smtClean="0"/>
              <a:t> </a:t>
            </a:r>
            <a:r>
              <a:rPr lang="de-DE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Projektziel</a:t>
            </a:r>
          </a:p>
          <a:p>
            <a:pPr marL="0" indent="0" algn="just">
              <a:buNone/>
            </a:pPr>
            <a:endParaRPr lang="de-DE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4"/>
          <a:srcRect t="5368"/>
          <a:stretch/>
        </p:blipFill>
        <p:spPr>
          <a:xfrm>
            <a:off x="3583296" y="1752600"/>
            <a:ext cx="1378175" cy="1228303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 rotWithShape="1">
          <a:blip r:embed="rId5"/>
          <a:srcRect t="1217" b="563"/>
          <a:stretch/>
        </p:blipFill>
        <p:spPr>
          <a:xfrm>
            <a:off x="3374848" y="2971800"/>
            <a:ext cx="1823377" cy="157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1412" y="-252338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 Planung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294967295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202B3352-D6B3-4806-8CF4-80D4C531CCAA}" type="slidenum">
              <a:rPr lang="de-DE" smtClean="0"/>
              <a:t>4</a:t>
            </a:fld>
            <a:endParaRPr lang="de-DE"/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1576310" y="1964884"/>
            <a:ext cx="9905999" cy="3541714"/>
          </a:xfrm>
        </p:spPr>
        <p:txBody>
          <a:bodyPr/>
          <a:lstStyle/>
          <a:p>
            <a:r>
              <a:rPr lang="de-DE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MVC-Architektur</a:t>
            </a: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Inhaltsplatzhalter 6"/>
          <p:cNvSpPr txBox="1">
            <a:spLocks/>
          </p:cNvSpPr>
          <p:nvPr/>
        </p:nvSpPr>
        <p:spPr>
          <a:xfrm>
            <a:off x="1141412" y="1226231"/>
            <a:ext cx="4794753" cy="738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Entwurf</a:t>
            </a:r>
            <a:endParaRPr lang="de-D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04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1412" y="-342833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 Planung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294967295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202B3352-D6B3-4806-8CF4-80D4C531CCAA}" type="slidenum">
              <a:rPr lang="de-DE" smtClean="0"/>
              <a:t>5</a:t>
            </a:fld>
            <a:endParaRPr lang="de-DE"/>
          </a:p>
        </p:txBody>
      </p:sp>
      <p:pic>
        <p:nvPicPr>
          <p:cNvPr id="3" name="Inhaltsplatzhalt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039" y="1459816"/>
            <a:ext cx="8060743" cy="4099378"/>
          </a:xfrm>
          <a:effectLst>
            <a:softEdge rad="50800"/>
          </a:effectLst>
        </p:spPr>
      </p:pic>
      <p:sp>
        <p:nvSpPr>
          <p:cNvPr id="5" name="Inhaltsplatzhalter 6"/>
          <p:cNvSpPr txBox="1">
            <a:spLocks/>
          </p:cNvSpPr>
          <p:nvPr/>
        </p:nvSpPr>
        <p:spPr>
          <a:xfrm>
            <a:off x="1141412" y="856349"/>
            <a:ext cx="5473144" cy="738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 Klassendiagramm: Model</a:t>
            </a:r>
            <a:endParaRPr lang="de-D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07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1412" y="-342833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 Planung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294967295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202B3352-D6B3-4806-8CF4-80D4C531CCAA}" type="slidenum">
              <a:rPr lang="de-DE" smtClean="0"/>
              <a:t>6</a:t>
            </a:fld>
            <a:endParaRPr lang="de-DE"/>
          </a:p>
        </p:txBody>
      </p:sp>
      <p:sp>
        <p:nvSpPr>
          <p:cNvPr id="5" name="Inhaltsplatzhalter 6"/>
          <p:cNvSpPr txBox="1">
            <a:spLocks/>
          </p:cNvSpPr>
          <p:nvPr/>
        </p:nvSpPr>
        <p:spPr>
          <a:xfrm>
            <a:off x="1141412" y="856349"/>
            <a:ext cx="5473144" cy="738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 Klassendiagramm: Repositorien</a:t>
            </a:r>
            <a:endParaRPr lang="de-D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nhaltsplatzhalt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208" y="1394280"/>
            <a:ext cx="5484207" cy="4854119"/>
          </a:xfrm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2787910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1412" y="-342833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 Planung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294967295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202B3352-D6B3-4806-8CF4-80D4C531CCAA}" type="slidenum">
              <a:rPr lang="de-DE" smtClean="0"/>
              <a:t>7</a:t>
            </a:fld>
            <a:endParaRPr lang="de-DE"/>
          </a:p>
        </p:txBody>
      </p:sp>
      <p:sp>
        <p:nvSpPr>
          <p:cNvPr id="5" name="Inhaltsplatzhalter 6"/>
          <p:cNvSpPr txBox="1">
            <a:spLocks/>
          </p:cNvSpPr>
          <p:nvPr/>
        </p:nvSpPr>
        <p:spPr>
          <a:xfrm>
            <a:off x="1141412" y="856349"/>
            <a:ext cx="5473144" cy="738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 Klassendiagramm: Service</a:t>
            </a:r>
            <a:endParaRPr lang="de-D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nhaltsplatzhalt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896" y="1595002"/>
            <a:ext cx="7961029" cy="3962650"/>
          </a:xfrm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3499097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1412" y="-342833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 Planung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294967295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202B3352-D6B3-4806-8CF4-80D4C531CCAA}" type="slidenum">
              <a:rPr lang="de-DE" smtClean="0"/>
              <a:t>8</a:t>
            </a:fld>
            <a:endParaRPr lang="de-DE"/>
          </a:p>
        </p:txBody>
      </p:sp>
      <p:sp>
        <p:nvSpPr>
          <p:cNvPr id="5" name="Inhaltsplatzhalter 6"/>
          <p:cNvSpPr txBox="1">
            <a:spLocks/>
          </p:cNvSpPr>
          <p:nvPr/>
        </p:nvSpPr>
        <p:spPr>
          <a:xfrm>
            <a:off x="1141412" y="856349"/>
            <a:ext cx="5473144" cy="738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 Klassendiagramm: Controller</a:t>
            </a:r>
            <a:endParaRPr lang="de-D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nhaltsplatzhalt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30" y="1595002"/>
            <a:ext cx="7808000" cy="3927024"/>
          </a:xfrm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14336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1412" y="-342833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 Planung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294967295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202B3352-D6B3-4806-8CF4-80D4C531CCAA}" type="slidenum">
              <a:rPr lang="de-DE" smtClean="0"/>
              <a:t>9</a:t>
            </a:fld>
            <a:endParaRPr lang="de-DE"/>
          </a:p>
        </p:txBody>
      </p:sp>
      <p:sp>
        <p:nvSpPr>
          <p:cNvPr id="5" name="Inhaltsplatzhalter 6"/>
          <p:cNvSpPr txBox="1">
            <a:spLocks/>
          </p:cNvSpPr>
          <p:nvPr/>
        </p:nvSpPr>
        <p:spPr>
          <a:xfrm>
            <a:off x="1141411" y="856349"/>
            <a:ext cx="6441417" cy="738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 Klassendiagramm: Data Transfer Objects</a:t>
            </a:r>
            <a:endParaRPr lang="de-D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nhaltsplatzhalt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5726" y="1316221"/>
            <a:ext cx="5652785" cy="5242933"/>
          </a:xfrm>
          <a:prstGeom prst="rect">
            <a:avLst/>
          </a:prstGeom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256067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1412" y="-252338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 Planung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294967295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202B3352-D6B3-4806-8CF4-80D4C531CCAA}" type="slidenum">
              <a:rPr lang="de-DE" smtClean="0"/>
              <a:t>10</a:t>
            </a:fld>
            <a:endParaRPr lang="de-DE"/>
          </a:p>
        </p:txBody>
      </p:sp>
      <p:pic>
        <p:nvPicPr>
          <p:cNvPr id="5" name="Inhaltsplatzhalt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7013" y="1226230"/>
            <a:ext cx="2535819" cy="2238253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433" y="1226231"/>
            <a:ext cx="2535819" cy="2238253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8" name="Titel 1"/>
          <p:cNvSpPr txBox="1">
            <a:spLocks/>
          </p:cNvSpPr>
          <p:nvPr/>
        </p:nvSpPr>
        <p:spPr>
          <a:xfrm>
            <a:off x="1141412" y="3925797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Programmiersprachen</a:t>
            </a:r>
            <a:endParaRPr lang="de-DE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728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1412" y="-252338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 Planung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nhaltsplatzhalter 1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47809" y="1226229"/>
            <a:ext cx="2344984" cy="2238253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983" y="1226229"/>
            <a:ext cx="3564945" cy="2238253"/>
          </a:xfrm>
          <a:prstGeom prst="rect">
            <a:avLst/>
          </a:prstGeom>
          <a:ln w="41275">
            <a:noFill/>
          </a:ln>
          <a:effectLst>
            <a:softEdge rad="50800"/>
          </a:effectLst>
        </p:spPr>
      </p:pic>
      <p:sp>
        <p:nvSpPr>
          <p:cNvPr id="15" name="Titel 1"/>
          <p:cNvSpPr txBox="1">
            <a:spLocks/>
          </p:cNvSpPr>
          <p:nvPr/>
        </p:nvSpPr>
        <p:spPr>
          <a:xfrm>
            <a:off x="1141412" y="3601599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Frameworks </a:t>
            </a:r>
            <a:endParaRPr lang="de-DE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01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1412" y="-252338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 Planung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el 1"/>
          <p:cNvSpPr txBox="1">
            <a:spLocks/>
          </p:cNvSpPr>
          <p:nvPr/>
        </p:nvSpPr>
        <p:spPr>
          <a:xfrm>
            <a:off x="1141412" y="3925797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Sonstiger TechStack</a:t>
            </a:r>
            <a:endParaRPr lang="de-DE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68" y="1012548"/>
            <a:ext cx="3554341" cy="2667808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380" y="1012548"/>
            <a:ext cx="3571014" cy="2667807"/>
          </a:xfrm>
          <a:prstGeom prst="rect">
            <a:avLst/>
          </a:prstGeom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22666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Durchführung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546680" y="5326551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Datenbankerstellung</a:t>
            </a:r>
            <a:endParaRPr lang="de-DE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4526756" y="3433763"/>
            <a:ext cx="95250" cy="1095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/>
        </p:nvSpPr>
        <p:spPr>
          <a:xfrm rot="737304">
            <a:off x="4526756" y="3721893"/>
            <a:ext cx="95250" cy="1095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4372561" y="3653741"/>
            <a:ext cx="2872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endParaRPr lang="de-DE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4383127" y="3363639"/>
            <a:ext cx="2872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endParaRPr lang="de-DE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hteck 12"/>
          <p:cNvSpPr/>
          <p:nvPr/>
        </p:nvSpPr>
        <p:spPr>
          <a:xfrm>
            <a:off x="1071419" y="1227891"/>
            <a:ext cx="10121148" cy="41846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8" name="Grafik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165" y="1049119"/>
            <a:ext cx="10411655" cy="4528111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 rotWithShape="1">
          <a:blip r:embed="rId3"/>
          <a:srcRect r="5619"/>
          <a:stretch/>
        </p:blipFill>
        <p:spPr>
          <a:xfrm>
            <a:off x="1082237" y="1327305"/>
            <a:ext cx="3443581" cy="4039164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400" y="1325573"/>
            <a:ext cx="6012873" cy="2122677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5818" y="3411379"/>
            <a:ext cx="6521592" cy="181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08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1412" y="-139766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Durchführung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141411" y="1446600"/>
            <a:ext cx="9905999" cy="3541714"/>
          </a:xfrm>
        </p:spPr>
        <p:txBody>
          <a:bodyPr/>
          <a:lstStyle/>
          <a:p>
            <a:pPr marL="0" indent="0">
              <a:buNone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" y="1285875"/>
            <a:ext cx="10753725" cy="4256281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7" name="Titel 1"/>
          <p:cNvSpPr txBox="1">
            <a:spLocks/>
          </p:cNvSpPr>
          <p:nvPr/>
        </p:nvSpPr>
        <p:spPr>
          <a:xfrm>
            <a:off x="2681133" y="5883274"/>
            <a:ext cx="4890544" cy="900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Formular</a:t>
            </a:r>
            <a:endParaRPr lang="de-DE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273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1412" y="-130628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Durchführung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nhaltsplatzhalter 12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68797" y="1327812"/>
            <a:ext cx="4796250" cy="4208616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16" name="Inhaltsplatzhalter 1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22940" y="1327812"/>
            <a:ext cx="4655935" cy="4190701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17" name="Textfeld 16"/>
          <p:cNvSpPr txBox="1"/>
          <p:nvPr/>
        </p:nvSpPr>
        <p:spPr>
          <a:xfrm>
            <a:off x="4070196" y="6488668"/>
            <a:ext cx="4442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smtClean="0">
                <a:latin typeface="Arial" panose="020B0604020202020204" pitchFamily="34" charset="0"/>
                <a:cs typeface="Arial" panose="020B0604020202020204" pitchFamily="34" charset="0"/>
              </a:rPr>
              <a:t>* Die Personendaten sind frei erfunden</a:t>
            </a:r>
            <a:endParaRPr lang="de-D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5088628" y="5680425"/>
            <a:ext cx="1386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Panel</a:t>
            </a:r>
            <a:endParaRPr lang="de-DE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922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41412" y="-141502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Durchführung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4081347" y="6488668"/>
            <a:ext cx="4429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smtClean="0"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de-DE" b="1" smtClean="0">
                <a:latin typeface="Arial" panose="020B0604020202020204" pitchFamily="34" charset="0"/>
                <a:cs typeface="Arial" panose="020B0604020202020204" pitchFamily="34" charset="0"/>
              </a:rPr>
              <a:t>Die Personendaten </a:t>
            </a:r>
            <a:r>
              <a:rPr lang="de-DE" b="1" dirty="0" smtClean="0">
                <a:latin typeface="Arial" panose="020B0604020202020204" pitchFamily="34" charset="0"/>
                <a:cs typeface="Arial" panose="020B0604020202020204" pitchFamily="34" charset="0"/>
              </a:rPr>
              <a:t>sind frei erfunden</a:t>
            </a:r>
            <a:endParaRPr lang="de-D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5115736" y="5419505"/>
            <a:ext cx="1634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Tabelle</a:t>
            </a:r>
            <a:endParaRPr lang="de-DE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588" y="1012473"/>
            <a:ext cx="10157645" cy="4195616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4155345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113230" y="-106311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Qualitätssicherung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1745674" y="1460665"/>
            <a:ext cx="6103916" cy="2421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Postman</a:t>
            </a:r>
          </a:p>
          <a:p>
            <a:pPr marL="457200" indent="-4572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de-DE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PG Admin 4</a:t>
            </a:r>
          </a:p>
        </p:txBody>
      </p:sp>
    </p:spTree>
    <p:extLst>
      <p:ext uri="{BB962C8B-B14F-4D97-AF65-F5344CB8AC3E}">
        <p14:creationId xmlns:p14="http://schemas.microsoft.com/office/powerpoint/2010/main" val="3579763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113230" y="-106311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Qualitätssicherung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2"/>
          <a:srcRect b="9122"/>
          <a:stretch/>
        </p:blipFill>
        <p:spPr>
          <a:xfrm>
            <a:off x="1385848" y="929035"/>
            <a:ext cx="6941508" cy="529396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Textfeld 5"/>
          <p:cNvSpPr txBox="1"/>
          <p:nvPr/>
        </p:nvSpPr>
        <p:spPr>
          <a:xfrm>
            <a:off x="8599974" y="3265597"/>
            <a:ext cx="2644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Rollen Test</a:t>
            </a:r>
            <a:endParaRPr lang="de-DE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33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113230" y="-106311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Qualitätssicherung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3096109" y="5883274"/>
            <a:ext cx="3396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Mitarbeiter Test</a:t>
            </a:r>
            <a:endParaRPr lang="de-DE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 rotWithShape="1">
          <a:blip r:embed="rId2"/>
          <a:srcRect b="50247"/>
          <a:stretch/>
        </p:blipFill>
        <p:spPr>
          <a:xfrm>
            <a:off x="1040124" y="1082867"/>
            <a:ext cx="10133109" cy="405482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33297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113230" y="-106311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Qualitätssicherung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3572230" y="5557140"/>
            <a:ext cx="26448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Whitebox</a:t>
            </a:r>
          </a:p>
          <a:p>
            <a:pPr algn="ctr"/>
            <a:r>
              <a:rPr lang="de-DE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endParaRPr lang="de-DE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30" y="899415"/>
            <a:ext cx="7562850" cy="465772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55875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141413" y="-106311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141412" y="1372259"/>
            <a:ext cx="9905999" cy="3757302"/>
          </a:xfrm>
        </p:spPr>
        <p:txBody>
          <a:bodyPr>
            <a:noAutofit/>
          </a:bodyPr>
          <a:lstStyle/>
          <a:p>
            <a:pPr>
              <a:lnSpc>
                <a:spcPct val="270000"/>
              </a:lnSpc>
            </a:pPr>
            <a:r>
              <a:rPr lang="de-DE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Viel gelernt</a:t>
            </a:r>
          </a:p>
          <a:p>
            <a:pPr>
              <a:lnSpc>
                <a:spcPct val="270000"/>
              </a:lnSpc>
            </a:pPr>
            <a:r>
              <a:rPr lang="de-DE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Java/JavaScript erweitert</a:t>
            </a:r>
          </a:p>
          <a:p>
            <a:pPr>
              <a:lnSpc>
                <a:spcPct val="270000"/>
              </a:lnSpc>
            </a:pPr>
            <a:r>
              <a:rPr lang="de-DE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Frameworks kennengelernt</a:t>
            </a:r>
          </a:p>
        </p:txBody>
      </p:sp>
    </p:spTree>
    <p:extLst>
      <p:ext uri="{BB962C8B-B14F-4D97-AF65-F5344CB8AC3E}">
        <p14:creationId xmlns:p14="http://schemas.microsoft.com/office/powerpoint/2010/main" val="286936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141411" y="1881497"/>
            <a:ext cx="9905999" cy="3541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7200" dirty="0" smtClean="0">
                <a:latin typeface="Arial" panose="020B0604020202020204" pitchFamily="34" charset="0"/>
                <a:cs typeface="Arial" panose="020B0604020202020204" pitchFamily="34" charset="0"/>
              </a:rPr>
              <a:t>Vielen Dank </a:t>
            </a:r>
            <a:r>
              <a:rPr lang="de-DE" sz="7200" smtClean="0">
                <a:latin typeface="Arial" panose="020B0604020202020204" pitchFamily="34" charset="0"/>
                <a:cs typeface="Arial" panose="020B0604020202020204" pitchFamily="34" charset="0"/>
              </a:rPr>
              <a:t>für Ihre </a:t>
            </a:r>
            <a:r>
              <a:rPr lang="de-DE" sz="7200" dirty="0" smtClean="0">
                <a:latin typeface="Arial" panose="020B0604020202020204" pitchFamily="34" charset="0"/>
                <a:cs typeface="Arial" panose="020B0604020202020204" pitchFamily="34" charset="0"/>
              </a:rPr>
              <a:t>Aufmerksamkeit</a:t>
            </a:r>
            <a:endParaRPr lang="de-DE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90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141413" y="-106311"/>
            <a:ext cx="9905998" cy="14785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Zukunftsausblick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141412" y="1372259"/>
            <a:ext cx="9905999" cy="354171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300000"/>
              </a:lnSpc>
            </a:pPr>
            <a:r>
              <a:rPr lang="de-DE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Rollen-Erstellung</a:t>
            </a:r>
          </a:p>
          <a:p>
            <a:pPr>
              <a:lnSpc>
                <a:spcPct val="200000"/>
              </a:lnSpc>
            </a:pPr>
            <a:r>
              <a:rPr lang="de-DE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Rollen-Suche</a:t>
            </a:r>
            <a:endParaRPr lang="de-DE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20000"/>
              </a:lnSpc>
            </a:pPr>
            <a:r>
              <a:rPr lang="de-DE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Rollen-Entfernung</a:t>
            </a:r>
          </a:p>
        </p:txBody>
      </p:sp>
    </p:spTree>
    <p:extLst>
      <p:ext uri="{BB962C8B-B14F-4D97-AF65-F5344CB8AC3E}">
        <p14:creationId xmlns:p14="http://schemas.microsoft.com/office/powerpoint/2010/main" val="2044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Schaltkreis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Schaltkreis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altkreis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TM04033919[[fn=Schaltkreis]]</Template>
  <TotalTime>0</TotalTime>
  <Words>129</Words>
  <Application>Microsoft Office PowerPoint</Application>
  <PresentationFormat>Breitbild</PresentationFormat>
  <Paragraphs>70</Paragraphs>
  <Slides>24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1" baseType="lpstr">
      <vt:lpstr>Aharoni</vt:lpstr>
      <vt:lpstr>Arial</vt:lpstr>
      <vt:lpstr>Calibri</vt:lpstr>
      <vt:lpstr>Trebuchet MS</vt:lpstr>
      <vt:lpstr>Tw Cen MT</vt:lpstr>
      <vt:lpstr>Wingdings</vt:lpstr>
      <vt:lpstr>Schaltkreis</vt:lpstr>
      <vt:lpstr>Synchronisation von Rollenzuordnung zwischen Entwicklungs- und Produktivumgebung</vt:lpstr>
      <vt:lpstr>AGENDA</vt:lpstr>
      <vt:lpstr>ANALYSE</vt:lpstr>
      <vt:lpstr>ANALYSE</vt:lpstr>
      <vt:lpstr> Planung</vt:lpstr>
      <vt:lpstr> Planung</vt:lpstr>
      <vt:lpstr> Planung</vt:lpstr>
      <vt:lpstr> Planung</vt:lpstr>
      <vt:lpstr> Planung</vt:lpstr>
      <vt:lpstr> Planung</vt:lpstr>
      <vt:lpstr> Planung</vt:lpstr>
      <vt:lpstr> Planung</vt:lpstr>
      <vt:lpstr> Planung</vt:lpstr>
      <vt:lpstr>Durchführung</vt:lpstr>
      <vt:lpstr>Durchführung</vt:lpstr>
      <vt:lpstr>Durchführung</vt:lpstr>
      <vt:lpstr>Durchführung</vt:lpstr>
      <vt:lpstr>Qualitätssicherung</vt:lpstr>
      <vt:lpstr>Qualitätssicherung</vt:lpstr>
      <vt:lpstr>Qualitätssicherung</vt:lpstr>
      <vt:lpstr>Qualitätssicherung</vt:lpstr>
      <vt:lpstr>Fazit</vt:lpstr>
      <vt:lpstr>PowerPoint-Präsentation</vt:lpstr>
      <vt:lpstr>Zukunftsausblick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Synchronisation von rollenzuordnung zwischen Entwicklungsumgebung und produktivumgebung </dc:title>
  <dc:creator>Schneekloth, Christoph</dc:creator>
  <cp:lastModifiedBy>Schneekloth, Christoph</cp:lastModifiedBy>
  <cp:revision>242</cp:revision>
  <dcterms:created xsi:type="dcterms:W3CDTF">2024-01-05T13:35:09Z</dcterms:created>
  <dcterms:modified xsi:type="dcterms:W3CDTF">2024-01-23T16:04:21Z</dcterms:modified>
</cp:coreProperties>
</file>